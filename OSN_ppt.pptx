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9" r:id="rId6"/>
    <p:sldId id="268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BC6962-2C6A-4363-A3F6-369DAD10279B}" v="3" dt="2025-11-27T05:09:40.1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43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vrat Jain" userId="beba9e82ab54ce22" providerId="LiveId" clId="{DFA0C63F-63F8-4D7F-AC93-3E89A8B60722}"/>
    <pc:docChg chg="custSel modSld">
      <pc:chgData name="Suvrat Jain" userId="beba9e82ab54ce22" providerId="LiveId" clId="{DFA0C63F-63F8-4D7F-AC93-3E89A8B60722}" dt="2025-11-27T05:10:40.880" v="363" actId="123"/>
      <pc:docMkLst>
        <pc:docMk/>
      </pc:docMkLst>
      <pc:sldChg chg="addSp modSp mod">
        <pc:chgData name="Suvrat Jain" userId="beba9e82ab54ce22" providerId="LiveId" clId="{DFA0C63F-63F8-4D7F-AC93-3E89A8B60722}" dt="2025-11-27T05:10:40.880" v="363" actId="123"/>
        <pc:sldMkLst>
          <pc:docMk/>
          <pc:sldMk cId="602086794" sldId="267"/>
        </pc:sldMkLst>
        <pc:spChg chg="add mod">
          <ac:chgData name="Suvrat Jain" userId="beba9e82ab54ce22" providerId="LiveId" clId="{DFA0C63F-63F8-4D7F-AC93-3E89A8B60722}" dt="2025-11-27T05:10:36.424" v="362" actId="123"/>
          <ac:spMkLst>
            <pc:docMk/>
            <pc:sldMk cId="602086794" sldId="267"/>
            <ac:spMk id="2" creationId="{D88ADF15-91F6-0AEB-69D6-2D44DE32DDCE}"/>
          </ac:spMkLst>
        </pc:spChg>
        <pc:spChg chg="add mod">
          <ac:chgData name="Suvrat Jain" userId="beba9e82ab54ce22" providerId="LiveId" clId="{DFA0C63F-63F8-4D7F-AC93-3E89A8B60722}" dt="2025-11-27T05:10:40.880" v="363" actId="123"/>
          <ac:spMkLst>
            <pc:docMk/>
            <pc:sldMk cId="602086794" sldId="267"/>
            <ac:spMk id="3" creationId="{FC58B931-96A1-B6ED-B6E3-E5402869329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2715-2DD9-AC64-C790-54FD8A1A8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F3BCDE-DCA0-3DC9-D9CD-9DD0E20A08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51052-1ED8-CC2F-F4B9-8C348BDF5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61EF1-A17F-472B-AE3B-213DE870D3C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D498C-568B-60AB-7B0D-06B275958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FBC0A-60F6-CC20-EE1C-B86AAA672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DD086-B8D6-4A9C-8B65-4B131D96B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0469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2C1A4-634E-FF3B-2BB6-0822DE376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80F41-4A8A-09DA-9E8E-CA6A628B5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12D94-EA14-70AC-0758-A031FA1E2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61EF1-A17F-472B-AE3B-213DE870D3C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AA81A-7180-9EE1-466D-B6E134EF6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77121-C365-7200-DA7D-FEC5F0853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DD086-B8D6-4A9C-8B65-4B131D96B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8130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69CF0-5B75-BE86-C308-5E0BF7914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5A242-F4ED-4354-AC45-B1E27E338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0E6FA-F89C-6555-C145-2990B8ED2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61EF1-A17F-472B-AE3B-213DE870D3C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0087D-D75F-9B3D-729B-683FCA738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4ABD8-5DD7-8D6F-589E-916498E15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DD086-B8D6-4A9C-8B65-4B131D96B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2831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0753C-B36F-4405-CF2B-D0288E691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DCE39-83CA-8B2E-B45B-FBE43CDD10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3EA958-9299-708B-9506-0F501473F8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12B91C-662B-54D8-F5F9-DE5B5FE53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61EF1-A17F-472B-AE3B-213DE870D3C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E9AA2-996E-B4F5-22C8-8BEB2FFC4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F3ACE9-9280-4CE8-DC65-853ECE32C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DD086-B8D6-4A9C-8B65-4B131D96B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826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431B9-BCE7-9358-7FE3-534395016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DFD77-5CFB-8156-D001-87DB17B6A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451E20-1A10-7FE6-54BB-CEC48FDAD3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51685A-F127-29AE-3C34-AEA8EA63F4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29100A-A8F5-949C-2166-4AA19DCE25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53CDC6-3B72-4CDF-7EA9-8AF3C2AC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61EF1-A17F-472B-AE3B-213DE870D3C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5703C3-2980-0ADD-A9B0-B73FB9759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2AFCAC-9CC6-C3A0-6292-E7767BADC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DD086-B8D6-4A9C-8B65-4B131D96B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3764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2C7C0-9492-1DA7-E13F-5DD673661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C6ADDE-9626-D2F2-4BB2-0AAEA7A5A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61EF1-A17F-472B-AE3B-213DE870D3C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03F73B-A92D-1F66-A420-5345EA043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A0AD1B-6436-B7F5-4EB7-E4F397EB5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DD086-B8D6-4A9C-8B65-4B131D96B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294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051156-089D-12B0-7821-3DA5436AE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61EF1-A17F-472B-AE3B-213DE870D3C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1922FE-2390-5C83-CEA6-F9B97B86A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56F292-0899-DF16-A673-1B80F1D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DD086-B8D6-4A9C-8B65-4B131D96B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11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7BEC1-E892-C91A-F0F6-766B7AC68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8E4DF-AD5E-38A9-B2B8-5CDCD395D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287511-2E3F-10CE-822B-085838DA17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128D62-DB7D-A226-01B8-B7F7BBC6A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61EF1-A17F-472B-AE3B-213DE870D3C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B49D99-BA46-871F-15B6-3D1512331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52F18D-EC33-F32C-0A24-F642DCA30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DD086-B8D6-4A9C-8B65-4B131D96B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5498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9EAFB-99BD-28F7-1403-E42F93FA8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CBD073-8423-FA0B-3ACA-DB3E7A865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DE1976-3AAD-DCF2-1650-8377FDF9B3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117D4D-5FA3-7335-3B7B-921D21DF5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61EF1-A17F-472B-AE3B-213DE870D3C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34AD46-A0B3-3AC2-2BCA-E14191FB3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F0C1EF-1FE6-A1A8-3025-3E7947106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DD086-B8D6-4A9C-8B65-4B131D96B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410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BD182-89DB-98F9-0FF5-BC228CF85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EA5E3A-4F53-26F0-A97A-14A4DA81ED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A1B90-292E-7B44-2505-F066FDF25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61EF1-A17F-472B-AE3B-213DE870D3C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1881E-5133-4ADA-AECB-36F9D8EC8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8622F-722A-A965-4F95-DD384EF89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DD086-B8D6-4A9C-8B65-4B131D96B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169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E4F437-09E9-EEFE-27A5-92CC979299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EF9352-4B47-8A5B-318B-6AC7F9CDCA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32AC5-EE19-996E-9F8C-F4685452B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61EF1-A17F-472B-AE3B-213DE870D3C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97ABC-5B45-9124-06D9-178778961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28747-0285-E845-6E42-048685A5D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DD086-B8D6-4A9C-8B65-4B131D96B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354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2A26E4-5539-2232-831E-4C1CF641C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7AAEFB-AA79-C820-B165-A571D7A88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06E37-873B-7EAB-FE8F-C381E9D113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A61EF1-A17F-472B-AE3B-213DE870D3C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D3152-303A-253C-5BCC-E4DC09CAB8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F527C-12C1-079C-F1A0-3B86A75B8E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0DD086-B8D6-4A9C-8B65-4B131D96B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9016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A5C0A-BAC5-7F42-1AAF-633BA3BBD1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 Scheduling 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Simulator</a:t>
            </a:r>
            <a:r>
              <a:rPr lang="en-US" sz="5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&amp; IPv4 Subnetting Calculator Using Python + Linux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35AFF5-90DB-153C-AA59-72729FCCF5EC}"/>
              </a:ext>
            </a:extLst>
          </p:cNvPr>
          <p:cNvSpPr txBox="1"/>
          <p:nvPr/>
        </p:nvSpPr>
        <p:spPr>
          <a:xfrm>
            <a:off x="2018581" y="3469482"/>
            <a:ext cx="83388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(Operating System &amp; Networking project)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0F7075-6AA8-506E-15D1-FF4C19097959}"/>
              </a:ext>
            </a:extLst>
          </p:cNvPr>
          <p:cNvSpPr txBox="1"/>
          <p:nvPr/>
        </p:nvSpPr>
        <p:spPr>
          <a:xfrm>
            <a:off x="1406106" y="4323801"/>
            <a:ext cx="95638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 - Suvrat Jain, Ayati Arora, Kavyah Bhanushali, Kayana Agarwal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9945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1025FC-BE94-C2ED-23C7-358871169B90}"/>
              </a:ext>
            </a:extLst>
          </p:cNvPr>
          <p:cNvSpPr txBox="1"/>
          <p:nvPr/>
        </p:nvSpPr>
        <p:spPr>
          <a:xfrm>
            <a:off x="2760453" y="356558"/>
            <a:ext cx="66825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Protocol Version 4 (IPv4)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09F666-7127-4030-98E8-4AD8827CBA30}"/>
              </a:ext>
            </a:extLst>
          </p:cNvPr>
          <p:cNvSpPr txBox="1"/>
          <p:nvPr/>
        </p:nvSpPr>
        <p:spPr>
          <a:xfrm>
            <a:off x="970830" y="1079411"/>
            <a:ext cx="445698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device on the network is identified using a logical address called IPv4.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plays an important role in routing data across the network, whether it be unicast, multicast, or broadcast.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IPv4 address is composed of 32 bits divided into 4 octets, where each bit can be 0 or 1. Thus giving a total of 2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addresses. 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octet has numbers from 0-255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A Comprehensive Guide to IP Addressing | by Vijay Kumar Gupta | Medium">
            <a:extLst>
              <a:ext uri="{FF2B5EF4-FFF2-40B4-BE49-F238E27FC236}">
                <a16:creationId xmlns:a16="http://schemas.microsoft.com/office/drawing/2014/main" id="{314401E2-5B0D-0163-AC05-F43FC7154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5162" y="4331273"/>
            <a:ext cx="3436100" cy="2170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e IP address distribution on the proposed network | Download Scientific  Diagram">
            <a:extLst>
              <a:ext uri="{FF2B5EF4-FFF2-40B4-BE49-F238E27FC236}">
                <a16:creationId xmlns:a16="http://schemas.microsoft.com/office/drawing/2014/main" id="{D846316A-7874-EEBC-FEFB-D2AA29716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2291" y="1079411"/>
            <a:ext cx="4573255" cy="3145544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2083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44C1E7-3283-25DD-320C-3185890D42D5}"/>
              </a:ext>
            </a:extLst>
          </p:cNvPr>
          <p:cNvSpPr txBox="1"/>
          <p:nvPr/>
        </p:nvSpPr>
        <p:spPr>
          <a:xfrm>
            <a:off x="3657600" y="292185"/>
            <a:ext cx="82756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IPv4 Problem Statement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2771C6-3261-59B9-BA06-B335E8D7B602}"/>
              </a:ext>
            </a:extLst>
          </p:cNvPr>
          <p:cNvSpPr txBox="1"/>
          <p:nvPr/>
        </p:nvSpPr>
        <p:spPr>
          <a:xfrm>
            <a:off x="970830" y="1079411"/>
            <a:ext cx="445698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IPv4 was developed, it was believed that internet wouldn’t grow at an exponential rate. Hence a lot of address spaces were kept reserved.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0.x.x.x address space was reserved  to signify the current network.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127.x.x.x address space was reserved for loopback testing and self diagnosis.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in reality, internet exploded and now we are facing dearth of IPv4 addresses.  </a:t>
            </a:r>
          </a:p>
        </p:txBody>
      </p:sp>
      <p:pic>
        <p:nvPicPr>
          <p:cNvPr id="2050" name="Picture 2" descr="LFCA: Learn Classes of Network IP ...">
            <a:extLst>
              <a:ext uri="{FF2B5EF4-FFF2-40B4-BE49-F238E27FC236}">
                <a16:creationId xmlns:a16="http://schemas.microsoft.com/office/drawing/2014/main" id="{616C8F04-AD05-2318-768E-2B6C82671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2036" y="3429000"/>
            <a:ext cx="5991135" cy="2716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unning out of IPv4 Addresses? Here are two options.">
            <a:extLst>
              <a:ext uri="{FF2B5EF4-FFF2-40B4-BE49-F238E27FC236}">
                <a16:creationId xmlns:a16="http://schemas.microsoft.com/office/drawing/2014/main" id="{6A106BE5-E806-4EDD-A11B-A9A33AF6AC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621" y="1079411"/>
            <a:ext cx="3418576" cy="2313236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7506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D3BD2B-9ACA-1AAC-0F8A-A7E54869FE0D}"/>
              </a:ext>
            </a:extLst>
          </p:cNvPr>
          <p:cNvSpPr txBox="1"/>
          <p:nvPr/>
        </p:nvSpPr>
        <p:spPr>
          <a:xfrm>
            <a:off x="4238445" y="304800"/>
            <a:ext cx="73209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Solutions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AFFB30-0D34-028F-6DA6-ED2636299561}"/>
              </a:ext>
            </a:extLst>
          </p:cNvPr>
          <p:cNvSpPr txBox="1"/>
          <p:nvPr/>
        </p:nvSpPr>
        <p:spPr>
          <a:xfrm>
            <a:off x="970830" y="1079411"/>
            <a:ext cx="445698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are moving from IPv4 to IPv6 (containing 128 bits). But this transition is not smooth and hence a long-term solution.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 short-term solution is achieved through subnetting where the large network is divided into smaller subnets.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Subnetting reduces the wastage of IPv4 address and maximizes its utilization.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Subnetting can be fixed length subnet mask (better) or variable length subnet mask (optimal).</a:t>
            </a:r>
          </a:p>
        </p:txBody>
      </p:sp>
      <p:pic>
        <p:nvPicPr>
          <p:cNvPr id="3074" name="Picture 2" descr="What is an IPv6 address? [Fully explained] - ClouDNS Blog">
            <a:extLst>
              <a:ext uri="{FF2B5EF4-FFF2-40B4-BE49-F238E27FC236}">
                <a16:creationId xmlns:a16="http://schemas.microsoft.com/office/drawing/2014/main" id="{FEF9B152-6AAD-79DE-0A4C-2399B257FB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5564" y="951131"/>
            <a:ext cx="4307455" cy="2422944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139A95-3788-EF2E-0E87-E31B64A37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951" y="3483926"/>
            <a:ext cx="4722680" cy="316967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32094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128281-74A1-4833-5E76-B19BA91A1948}"/>
              </a:ext>
            </a:extLst>
          </p:cNvPr>
          <p:cNvSpPr txBox="1"/>
          <p:nvPr/>
        </p:nvSpPr>
        <p:spPr>
          <a:xfrm>
            <a:off x="3048000" y="143774"/>
            <a:ext cx="6579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Simulator Workflow Diagram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349EF2-708F-46BF-5C31-093B5FA02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118" y="856890"/>
            <a:ext cx="7752272" cy="5857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404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AB6AED-97F1-C3E4-B398-1037FD33D3F7}"/>
              </a:ext>
            </a:extLst>
          </p:cNvPr>
          <p:cNvSpPr txBox="1"/>
          <p:nvPr/>
        </p:nvSpPr>
        <p:spPr>
          <a:xfrm>
            <a:off x="4111925" y="223174"/>
            <a:ext cx="69183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FA95FA-F986-3DB9-18B1-D0806D551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78" y="869505"/>
            <a:ext cx="5716437" cy="585252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53E1EA9-BACD-F367-3C46-7CA92DD5F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191774"/>
            <a:ext cx="5825705" cy="353025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EB213D-4886-C78B-5119-CBDB529B43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9992" y="869505"/>
            <a:ext cx="5825705" cy="14136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717F4C-DE34-A8EB-0F63-2129D9C10E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9963" y="2344660"/>
            <a:ext cx="3485072" cy="584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515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7593C8-9721-4CD5-CF6B-246B2ACFFD64}"/>
              </a:ext>
            </a:extLst>
          </p:cNvPr>
          <p:cNvSpPr txBox="1"/>
          <p:nvPr/>
        </p:nvSpPr>
        <p:spPr>
          <a:xfrm>
            <a:off x="2955985" y="350807"/>
            <a:ext cx="66825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Scheduling Algorithms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28535B-3AC8-8EF1-1501-2AEBA90BC69D}"/>
              </a:ext>
            </a:extLst>
          </p:cNvPr>
          <p:cNvSpPr txBox="1"/>
          <p:nvPr/>
        </p:nvSpPr>
        <p:spPr>
          <a:xfrm>
            <a:off x="986186" y="1274943"/>
            <a:ext cx="445698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acts as a bridge between hardware and applications, managing a huge volume of processes.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processes are chosen at random for execution, then it will create chaos and even underutilization of resources like CPU and RAM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various scheduling algorithms like FCFS, SJF, or SRTF are used to regulate the task.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8A676E-02C4-C994-07BA-110EC6792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5423" y="1079411"/>
            <a:ext cx="5576719" cy="279469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4100" name="Picture 4" descr="CPU Scheduling Algorithms. By: Archis Khuspe, Agnibha Sarkar… | by Archis  Khuspe | Medium">
            <a:extLst>
              <a:ext uri="{FF2B5EF4-FFF2-40B4-BE49-F238E27FC236}">
                <a16:creationId xmlns:a16="http://schemas.microsoft.com/office/drawing/2014/main" id="{5344CF47-F7A6-80BB-46D0-860013DFC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2907" y="3617794"/>
            <a:ext cx="4456979" cy="312786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2463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7A8B00-0776-F776-9F5A-F5AA5C70DD01}"/>
              </a:ext>
            </a:extLst>
          </p:cNvPr>
          <p:cNvSpPr txBox="1"/>
          <p:nvPr/>
        </p:nvSpPr>
        <p:spPr>
          <a:xfrm>
            <a:off x="3048000" y="205921"/>
            <a:ext cx="82756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 Problem Statement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999C09-418F-6FAF-BC83-5BECF20A9CAA}"/>
              </a:ext>
            </a:extLst>
          </p:cNvPr>
          <p:cNvSpPr txBox="1"/>
          <p:nvPr/>
        </p:nvSpPr>
        <p:spPr>
          <a:xfrm>
            <a:off x="666569" y="1079411"/>
            <a:ext cx="476286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Individually each of the algorithms has some pros and cons.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FCFS suffers from convoy effect but escapes starvation effect. It is simplest to implement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SJF suffers from both convoy effect and starvation effect. It is difficult to implement.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SRTF suffers from starvation effect but escapes convoy effect. It is hardest to implement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Throughput order: SRTF &gt; SJF &gt; FCFS</a:t>
            </a:r>
          </a:p>
        </p:txBody>
      </p:sp>
      <p:pic>
        <p:nvPicPr>
          <p:cNvPr id="5122" name="Picture 2" descr="Convoy Effect in Operating System - Naukri Code 360">
            <a:extLst>
              <a:ext uri="{FF2B5EF4-FFF2-40B4-BE49-F238E27FC236}">
                <a16:creationId xmlns:a16="http://schemas.microsoft.com/office/drawing/2014/main" id="{A2229C0E-5EB5-506F-32AF-3B89F0ECB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020204"/>
            <a:ext cx="5223115" cy="2690696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840FD6-DAF6-15DC-E505-08DA296A4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3878852"/>
            <a:ext cx="5267864" cy="258746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0682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4D7D7B-6819-B25A-A7D4-3B38851BA17F}"/>
              </a:ext>
            </a:extLst>
          </p:cNvPr>
          <p:cNvSpPr txBox="1"/>
          <p:nvPr/>
        </p:nvSpPr>
        <p:spPr>
          <a:xfrm>
            <a:off x="1086928" y="230038"/>
            <a:ext cx="73209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Solutions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D2F1FF-C256-F146-31C6-F144AAD7B464}"/>
              </a:ext>
            </a:extLst>
          </p:cNvPr>
          <p:cNvSpPr txBox="1"/>
          <p:nvPr/>
        </p:nvSpPr>
        <p:spPr>
          <a:xfrm>
            <a:off x="614271" y="1044905"/>
            <a:ext cx="445698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scheduling algorithm is an effective approach to the previously mentioned problems. It uses the idea of time quanta.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Nowadays, computers don’t use just a single scheduling algorithm, rather a mixture of them is used simultaneously.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8B16A0-2349-EE1D-7688-839BFE04558B}"/>
              </a:ext>
            </a:extLst>
          </p:cNvPr>
          <p:cNvSpPr txBox="1"/>
          <p:nvPr/>
        </p:nvSpPr>
        <p:spPr>
          <a:xfrm>
            <a:off x="5733691" y="230037"/>
            <a:ext cx="6579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Simulator Workflow Diagram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03037E-4F1C-FA5C-4DC8-E828DD24E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6861" y="978321"/>
            <a:ext cx="5511045" cy="427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670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0B6BCE-6B56-4730-85B3-45D3112509CA}"/>
              </a:ext>
            </a:extLst>
          </p:cNvPr>
          <p:cNvSpPr txBox="1"/>
          <p:nvPr/>
        </p:nvSpPr>
        <p:spPr>
          <a:xfrm>
            <a:off x="4035526" y="55367"/>
            <a:ext cx="69183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B3DB56-72A0-849E-A475-77E81F031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44" y="1027452"/>
            <a:ext cx="3370939" cy="12690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65E20D-5FD0-A0BE-9E78-207B8FCE2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644" y="2495834"/>
            <a:ext cx="3266537" cy="24841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FC66271-9655-BB94-B296-235EB12C85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51" y="4980002"/>
            <a:ext cx="3997615" cy="115992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7F7C690-0D78-C4FB-4509-B2A07779B7BD}"/>
              </a:ext>
            </a:extLst>
          </p:cNvPr>
          <p:cNvSpPr/>
          <p:nvPr/>
        </p:nvSpPr>
        <p:spPr>
          <a:xfrm>
            <a:off x="63260" y="828136"/>
            <a:ext cx="4065850" cy="59292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0F6B811-62A7-6114-F0BB-EAE516B076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0285" y="1014411"/>
            <a:ext cx="3617805" cy="126906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721903E-3748-C654-FA26-FBD24C7190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4960" y="2451473"/>
            <a:ext cx="3030748" cy="246531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8AD73F8-1DF6-5704-1EE9-A66CB6D462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8996" y="4966422"/>
            <a:ext cx="3830482" cy="115992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7DEE73A-5693-EEFF-9566-828872358C7E}"/>
              </a:ext>
            </a:extLst>
          </p:cNvPr>
          <p:cNvSpPr/>
          <p:nvPr/>
        </p:nvSpPr>
        <p:spPr>
          <a:xfrm>
            <a:off x="4200204" y="828136"/>
            <a:ext cx="3954634" cy="59292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58E467-42F8-9CB5-B7C9-19874B1CC6C8}"/>
              </a:ext>
            </a:extLst>
          </p:cNvPr>
          <p:cNvSpPr/>
          <p:nvPr/>
        </p:nvSpPr>
        <p:spPr>
          <a:xfrm>
            <a:off x="8225932" y="828136"/>
            <a:ext cx="3902809" cy="59292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FF0D2A7-BFFD-4C8D-3DA3-33BEDE05DB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5304" y="1014410"/>
            <a:ext cx="3543398" cy="126906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C3CFE5F-9B7A-E040-0303-8137E03DF6C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6892" y="2409914"/>
            <a:ext cx="2677923" cy="246463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E728874-545F-5207-5184-70EC20955F7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45937" y="4916783"/>
            <a:ext cx="3762131" cy="1171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857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CBBE53-857A-7FB8-FDA0-865296433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97" y="755301"/>
            <a:ext cx="11757805" cy="582377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7B27E10-0BCE-53A3-8501-D4646E5FD480}"/>
              </a:ext>
            </a:extLst>
          </p:cNvPr>
          <p:cNvSpPr txBox="1"/>
          <p:nvPr/>
        </p:nvSpPr>
        <p:spPr>
          <a:xfrm>
            <a:off x="3546696" y="49616"/>
            <a:ext cx="69183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 Cont.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0950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FBBD2B-BDCE-69E4-3E5C-A0A1A400C33C}"/>
              </a:ext>
            </a:extLst>
          </p:cNvPr>
          <p:cNvSpPr txBox="1"/>
          <p:nvPr/>
        </p:nvSpPr>
        <p:spPr>
          <a:xfrm>
            <a:off x="2702943" y="138023"/>
            <a:ext cx="7660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Contributions and Reflections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1BBEAF-55B9-077C-8843-099106ECEC22}"/>
              </a:ext>
            </a:extLst>
          </p:cNvPr>
          <p:cNvSpPr txBox="1"/>
          <p:nvPr/>
        </p:nvSpPr>
        <p:spPr>
          <a:xfrm>
            <a:off x="1397479" y="1132936"/>
            <a:ext cx="972484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Suvrat: Team lead, scheduling algorithm code, subnetting code (class a implementation)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Kavyah: Subnetting code, readme files for installation and execution, PPT 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Ayati: Linux server creation on AWS, integrating server with scheduling python code, PPT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Kayana: Linux server creation on AWS, integrating server with subnetting python code, PPT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8ADF15-91F6-0AEB-69D6-2D44DE32DDCE}"/>
              </a:ext>
            </a:extLst>
          </p:cNvPr>
          <p:cNvSpPr txBox="1"/>
          <p:nvPr/>
        </p:nvSpPr>
        <p:spPr>
          <a:xfrm>
            <a:off x="1440611" y="4004498"/>
            <a:ext cx="93107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this project we not only revisited the theoretical concepts but also got exposed to practically implementing these ideas and integrating them with Linux environment.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58B931-96A1-B6ED-B6E3-E5402869329D}"/>
              </a:ext>
            </a:extLst>
          </p:cNvPr>
          <p:cNvSpPr txBox="1"/>
          <p:nvPr/>
        </p:nvSpPr>
        <p:spPr>
          <a:xfrm>
            <a:off x="695863" y="5305816"/>
            <a:ext cx="109670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relevant code files along with steps for installation and execution can be found in the following public GitHub repository: 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https://github.com/suvrat-jain-git/OperatingSystem_Networking_Project.git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2086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67218BE599A634AB3AE4B52076AB3DA" ma:contentTypeVersion="1" ma:contentTypeDescription="Create a new document." ma:contentTypeScope="" ma:versionID="25b2ebde6b1d43ca088b99c105f06dd8">
  <xsd:schema xmlns:xsd="http://www.w3.org/2001/XMLSchema" xmlns:xs="http://www.w3.org/2001/XMLSchema" xmlns:p="http://schemas.microsoft.com/office/2006/metadata/properties" xmlns:ns3="ce250a32-18d7-4798-9ab0-44b9aa434bcd" targetNamespace="http://schemas.microsoft.com/office/2006/metadata/properties" ma:root="true" ma:fieldsID="45a34026faf7bcac64f5bd2f338c5594" ns3:_="">
    <xsd:import namespace="ce250a32-18d7-4798-9ab0-44b9aa434bc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250a32-18d7-4798-9ab0-44b9aa434bc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4AA468-93A0-449F-8657-6F6445A97C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e250a32-18d7-4798-9ab0-44b9aa434b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4055F9C-6C1D-4E08-AFEC-EBD24D575489}">
  <ds:schemaRefs>
    <ds:schemaRef ds:uri="http://purl.org/dc/elements/1.1/"/>
    <ds:schemaRef ds:uri="http://schemas.microsoft.com/office/infopath/2007/PartnerControls"/>
    <ds:schemaRef ds:uri="ce250a32-18d7-4798-9ab0-44b9aa434bcd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purl.org/dc/dcmitype/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C6F0529-CC03-46D2-A8CC-0577998D794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933</TotalTime>
  <Words>588</Words>
  <Application>Microsoft Office PowerPoint</Application>
  <PresentationFormat>Widescreen</PresentationFormat>
  <Paragraphs>45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Times New Roman</vt:lpstr>
      <vt:lpstr>Wingdings</vt:lpstr>
      <vt:lpstr>Office Theme</vt:lpstr>
      <vt:lpstr>Process Scheduling Simulator &amp; IPv4 Subnetting Calculator Using Python + Linux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Kavyah Bhanushali</dc:creator>
  <cp:lastModifiedBy>Suvrat Jain</cp:lastModifiedBy>
  <cp:revision>3</cp:revision>
  <dcterms:created xsi:type="dcterms:W3CDTF">2025-11-23T22:23:38Z</dcterms:created>
  <dcterms:modified xsi:type="dcterms:W3CDTF">2025-11-27T05:10:50Z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0x010100567218BE599A634AB3AE4B52076AB3DA</vt:lpwstr>
  </property>
</Properties>
</file>